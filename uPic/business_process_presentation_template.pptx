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0" y="731520"/>
            <a:ext cx="4114800" cy="5486400"/>
          </a:xfrm>
          <a:prstGeom prst="roundRect">
            <a:avLst/>
          </a:prstGeom>
          <a:solidFill>
            <a:srgbClr val="182034"/>
          </a:solidFill>
          <a:ln w="1270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371600"/>
            <a:ext cx="2011680" cy="347472"/>
          </a:xfrm>
          <a:prstGeom prst="round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BUSINESS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资产交易全流程业务推进</a:t>
            </a:r>
            <a:br/>
            <a:r>
              <a:t>与运营管控方案</a:t>
            </a:r>
          </a:p>
          <a:p>
            <a:pPr>
              <a:defRPr sz="1400">
                <a:solidFill>
                  <a:srgbClr val="CBD5E1"/>
                </a:solidFill>
                <a:latin typeface="Microsoft YaHei"/>
              </a:defRPr>
            </a:pPr>
            <a:r>
              <a:t>从项目立项、资产估值到招商交易与回收款转付的全周期标准化推进体系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480560"/>
            <a:ext cx="3657600" cy="36576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Microsoft YaHei"/>
              </a:defRPr>
            </a:pPr>
            <a:r>
              <a:t>汇报部门：项目专项推进工作组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Microsoft YaHei"/>
              </a:defRPr>
            </a:pPr>
            <a:r>
              <a:t>汇报日期：2026年10月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Microsoft YaHei"/>
              </a:defRPr>
            </a:pPr>
            <a:r>
              <a:t>文档属性：高保真可编辑 PPT 模板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09728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1">
                <a:solidFill>
                  <a:srgbClr val="FF6A1A"/>
                </a:solidFill>
                <a:latin typeface="Arial"/>
              </a:defRPr>
            </a:pPr>
            <a:r>
              <a:t>KEY HIGHLIGHTS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01 / 四大阶段联动</a:t>
            </a:r>
          </a:p>
          <a:p>
            <a:pPr>
              <a:defRPr sz="950">
                <a:solidFill>
                  <a:srgbClr val="94A3B8"/>
                </a:solidFill>
                <a:latin typeface="Microsoft YaHei"/>
              </a:defRPr>
            </a:pPr>
            <a:r>
              <a:t>准备、推介、交易、售后横向一体化全流程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02 / 估值风控前置</a:t>
            </a:r>
          </a:p>
          <a:p>
            <a:pPr>
              <a:defRPr sz="950">
                <a:solidFill>
                  <a:srgbClr val="94A3B8"/>
                </a:solidFill>
                <a:latin typeface="Microsoft YaHei"/>
              </a:defRPr>
            </a:pPr>
            <a:r>
              <a:t>合同规范与账包数据清洗保障底账真实合规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03 / 招商阳光透明</a:t>
            </a:r>
          </a:p>
          <a:p>
            <a:pPr>
              <a:defRPr sz="950">
                <a:solidFill>
                  <a:srgbClr val="94A3B8"/>
                </a:solidFill>
                <a:latin typeface="Microsoft YaHei"/>
              </a:defRPr>
            </a:pPr>
            <a:r>
              <a:t>公开推介与竞价招标并举，实现资产价值最大化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04 / 资金闭环管控</a:t>
            </a:r>
          </a:p>
          <a:p>
            <a:pPr>
              <a:defRPr sz="950">
                <a:solidFill>
                  <a:srgbClr val="94A3B8"/>
                </a:solidFill>
                <a:latin typeface="Microsoft YaHei"/>
              </a:defRPr>
            </a:pPr>
            <a:r>
              <a:t>多方监管与回收款即时转付，确保履约零风险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731520" cy="4572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743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6A1A"/>
                </a:solidFill>
                <a:latin typeface="Arial"/>
              </a:defRPr>
            </a:pPr>
            <a:r>
              <a:t>00 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icrosoft YaHei"/>
              </a:defRPr>
            </a:pPr>
            <a:r>
              <a:t>核心汇报目录与章节架构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icrosoft YaHei"/>
              </a:defRPr>
            </a:pPr>
            <a:r>
              <a:t>全流程推进体系共分为四大核心工作阶段与治理保障机制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YaHei"/>
              </a:defRPr>
            </a:pPr>
            <a:r>
              <a:t>BUSINESS WORKFLOW &amp; PROCESS TEMPLATE  |  原生可编辑 PPT 模板 · 支持双击修改文字与形状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FF6A1A"/>
                </a:solidFill>
                <a:latin typeface="Arial"/>
              </a:defRPr>
            </a:pPr>
            <a:r>
              <a:t>02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2542032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2542032" cy="9144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208483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6A1A"/>
                </a:solidFill>
                <a:latin typeface="Arial"/>
              </a:defRPr>
            </a:pPr>
            <a:r>
              <a:t>01</a:t>
            </a:r>
          </a:p>
          <a:p>
            <a:pPr>
              <a:spcBef>
                <a:spcPts val="200"/>
              </a:spcBef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t>准备阶段</a:t>
            </a:r>
          </a:p>
          <a:p>
            <a:pPr>
              <a:spcAft>
                <a:spcPts val="8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PREPARATION</a:t>
            </a:r>
          </a:p>
          <a:p>
            <a:pPr>
              <a:spcAft>
                <a:spcPts val="1000"/>
              </a:spcAft>
              <a:defRPr sz="700">
                <a:solidFill>
                  <a:srgbClr val="E2E8F0"/>
                </a:solidFill>
              </a:defRPr>
            </a:pPr>
            <a:r>
              <a:t>───────────────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•  项目立项与可行性研判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•  签收估值服务合同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•  账包数据整理与清洗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•  专业估值机构对接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554480"/>
            <a:ext cx="2542032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1554480"/>
            <a:ext cx="2542032" cy="914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1828800"/>
            <a:ext cx="208483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6A1A"/>
                </a:solidFill>
                <a:latin typeface="Arial"/>
              </a:defRPr>
            </a:pPr>
            <a:r>
              <a:t>02</a:t>
            </a:r>
          </a:p>
          <a:p>
            <a:pPr>
              <a:spcBef>
                <a:spcPts val="200"/>
              </a:spcBef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t>交易前阶段</a:t>
            </a:r>
          </a:p>
          <a:p>
            <a:pPr>
              <a:spcAft>
                <a:spcPts val="8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PRE-TRANSACTION</a:t>
            </a:r>
          </a:p>
          <a:p>
            <a:pPr>
              <a:spcAft>
                <a:spcPts val="1000"/>
              </a:spcAft>
              <a:defRPr sz="700">
                <a:solidFill>
                  <a:srgbClr val="E2E8F0"/>
                </a:solidFill>
              </a:defRPr>
            </a:pPr>
            <a:r>
              <a:t>───────────────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•  全渠道招商推介路演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•  投资人意向沟通撮合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•  招标方案编制与合规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•  组织招标与专家评审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554480"/>
            <a:ext cx="2542032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554480"/>
            <a:ext cx="2542032" cy="914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828800"/>
            <a:ext cx="208483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6A1A"/>
                </a:solidFill>
                <a:latin typeface="Arial"/>
              </a:defRPr>
            </a:pPr>
            <a:r>
              <a:t>03</a:t>
            </a:r>
          </a:p>
          <a:p>
            <a:pPr>
              <a:spcBef>
                <a:spcPts val="200"/>
              </a:spcBef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t>交易阶段</a:t>
            </a:r>
          </a:p>
          <a:p>
            <a:pPr>
              <a:spcAft>
                <a:spcPts val="8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TRANSACTION</a:t>
            </a:r>
          </a:p>
          <a:p>
            <a:pPr>
              <a:spcAft>
                <a:spcPts val="1000"/>
              </a:spcAft>
              <a:defRPr sz="700">
                <a:solidFill>
                  <a:srgbClr val="E2E8F0"/>
                </a:solidFill>
              </a:defRPr>
            </a:pPr>
            <a:r>
              <a:t>───────────────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•  交易协议谈判与签署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•  监管账户设立与注资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•  权属移交与资产交割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•  双方法务公证备案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554480"/>
            <a:ext cx="2542032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06256" y="1554480"/>
            <a:ext cx="2542032" cy="914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4856" y="1828800"/>
            <a:ext cx="208483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6A1A"/>
                </a:solidFill>
                <a:latin typeface="Arial"/>
              </a:defRPr>
            </a:pPr>
            <a:r>
              <a:t>04</a:t>
            </a:r>
          </a:p>
          <a:p>
            <a:pPr>
              <a:spcBef>
                <a:spcPts val="200"/>
              </a:spcBef>
              <a:defRPr sz="1700" b="1">
                <a:solidFill>
                  <a:srgbClr val="0F172A"/>
                </a:solidFill>
                <a:latin typeface="Microsoft YaHei"/>
              </a:defRPr>
            </a:pPr>
            <a:r>
              <a:t>售后阶段</a:t>
            </a:r>
          </a:p>
          <a:p>
            <a:pPr>
              <a:spcAft>
                <a:spcPts val="800"/>
              </a:spcAft>
              <a:defRPr sz="900" b="1">
                <a:solidFill>
                  <a:srgbClr val="64748B"/>
                </a:solidFill>
                <a:latin typeface="Arial"/>
              </a:defRPr>
            </a:pPr>
            <a:r>
              <a:t>AFTER-SALES</a:t>
            </a:r>
          </a:p>
          <a:p>
            <a:pPr>
              <a:spcAft>
                <a:spcPts val="1000"/>
              </a:spcAft>
              <a:defRPr sz="700">
                <a:solidFill>
                  <a:srgbClr val="E2E8F0"/>
                </a:solidFill>
              </a:defRPr>
            </a:pPr>
            <a:r>
              <a:t>───────────────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•  回收款核对与分期转付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•  项目台账及凭据归档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•  存续期跟踪与满意度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Microsoft YaHei"/>
              </a:defRPr>
            </a:pPr>
            <a:r>
              <a:t>•  全周期复盘与持续赋能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731520" cy="4572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743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6A1A"/>
                </a:solidFill>
                <a:latin typeface="Arial"/>
              </a:defRPr>
            </a:pPr>
            <a:r>
              <a:t>01 PROCESS FLOWCHART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icrosoft YaHei"/>
              </a:defRPr>
            </a:pPr>
            <a:r>
              <a:t>业务全流程横向推进图 (原生矢量 · 完全可编辑)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icrosoft YaHei"/>
              </a:defRPr>
            </a:pPr>
            <a:r>
              <a:t>四大主模块横向推进，红色箭头依次相连；双击任何方框即可直接修改文字与样式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YaHei"/>
              </a:defRPr>
            </a:pPr>
            <a:r>
              <a:t>BUSINESS WORKFLOW &amp; PROCESS TEMPLATE  |  原生可编辑 PPT 模板 · 支持双击修改文字与形状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FF6A1A"/>
                </a:solidFill>
                <a:latin typeface="Arial"/>
              </a:defRPr>
            </a:pPr>
            <a:r>
              <a:t>03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2402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600200"/>
            <a:ext cx="1965960" cy="777240"/>
          </a:xfrm>
          <a:prstGeom prst="roundRect">
            <a:avLst/>
          </a:prstGeom>
          <a:solidFill>
            <a:srgbClr val="FF6A1A"/>
          </a:solidFill>
          <a:ln w="12700">
            <a:solidFill>
              <a:srgbClr val="E54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准备阶段</a:t>
            </a:r>
          </a:p>
          <a:p>
            <a:pPr algn="ctr">
              <a:spcBef>
                <a:spcPts val="200"/>
              </a:spcBef>
              <a:defRPr sz="750" b="1">
                <a:solidFill>
                  <a:srgbClr val="FFEDD5"/>
                </a:solidFill>
                <a:latin typeface="Arial"/>
              </a:defRPr>
            </a:pPr>
            <a:r>
              <a:t>STAGE 01 · PREPARATION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90672" y="1879092"/>
            <a:ext cx="347472" cy="219456"/>
          </a:xfrm>
          <a:prstGeom prst="righ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532888"/>
            <a:ext cx="1965960" cy="621792"/>
          </a:xfrm>
          <a:prstGeom prst="roundRect">
            <a:avLst/>
          </a:prstGeom>
          <a:solidFill>
            <a:srgbClr val="1820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01 项目立项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796796" y="3182112"/>
            <a:ext cx="109728" cy="128016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1965960" cy="621792"/>
          </a:xfrm>
          <a:prstGeom prst="roundRect">
            <a:avLst/>
          </a:prstGeom>
          <a:solidFill>
            <a:srgbClr val="1820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02 签收估值服务合同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796796" y="3986784"/>
            <a:ext cx="109728" cy="128016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4142232"/>
            <a:ext cx="1965960" cy="621792"/>
          </a:xfrm>
          <a:prstGeom prst="roundRect">
            <a:avLst/>
          </a:prstGeom>
          <a:solidFill>
            <a:srgbClr val="1820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03 账包数据整理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796796" y="4791456"/>
            <a:ext cx="109728" cy="128016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4946904"/>
            <a:ext cx="1965960" cy="621792"/>
          </a:xfrm>
          <a:prstGeom prst="roundRect">
            <a:avLst/>
          </a:prstGeom>
          <a:solidFill>
            <a:srgbClr val="1820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04 估值对接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57016" y="1463040"/>
            <a:ext cx="22402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94176" y="1600200"/>
            <a:ext cx="1965960" cy="777240"/>
          </a:xfrm>
          <a:prstGeom prst="roundRect">
            <a:avLst/>
          </a:prstGeom>
          <a:solidFill>
            <a:srgbClr val="FF6A1A"/>
          </a:solidFill>
          <a:ln w="12700">
            <a:solidFill>
              <a:srgbClr val="E54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交易前阶段</a:t>
            </a:r>
          </a:p>
          <a:p>
            <a:pPr algn="ctr">
              <a:spcBef>
                <a:spcPts val="200"/>
              </a:spcBef>
              <a:defRPr sz="750" b="1">
                <a:solidFill>
                  <a:srgbClr val="FFEDD5"/>
                </a:solidFill>
                <a:latin typeface="Arial"/>
              </a:defRPr>
            </a:pPr>
            <a:r>
              <a:t>STAGE 02 · PRE-TRANSACTION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16168" y="1879092"/>
            <a:ext cx="347472" cy="219456"/>
          </a:xfrm>
          <a:prstGeom prst="righ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94176" y="2532888"/>
            <a:ext cx="1965960" cy="777240"/>
          </a:xfrm>
          <a:prstGeom prst="roundRect">
            <a:avLst/>
          </a:prstGeom>
          <a:solidFill>
            <a:srgbClr val="1820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01 招商推介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4622292" y="3474720"/>
            <a:ext cx="109728" cy="128016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94176" y="3767328"/>
            <a:ext cx="1965960" cy="777240"/>
          </a:xfrm>
          <a:prstGeom prst="roundRect">
            <a:avLst/>
          </a:prstGeom>
          <a:solidFill>
            <a:srgbClr val="1820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02 组织招标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82512" y="1463040"/>
            <a:ext cx="22402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19672" y="1600200"/>
            <a:ext cx="1965960" cy="777240"/>
          </a:xfrm>
          <a:prstGeom prst="roundRect">
            <a:avLst/>
          </a:prstGeom>
          <a:solidFill>
            <a:srgbClr val="FF6A1A"/>
          </a:solidFill>
          <a:ln w="12700">
            <a:solidFill>
              <a:srgbClr val="E54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交易阶段</a:t>
            </a:r>
          </a:p>
          <a:p>
            <a:pPr algn="ctr">
              <a:spcBef>
                <a:spcPts val="200"/>
              </a:spcBef>
              <a:defRPr sz="750" b="1">
                <a:solidFill>
                  <a:srgbClr val="FFEDD5"/>
                </a:solidFill>
                <a:latin typeface="Arial"/>
              </a:defRPr>
            </a:pPr>
            <a:r>
              <a:t>STAGE 03 · TRANSACTION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741664" y="1879092"/>
            <a:ext cx="347472" cy="219456"/>
          </a:xfrm>
          <a:prstGeom prst="righ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19672" y="2532888"/>
            <a:ext cx="1965960" cy="777240"/>
          </a:xfrm>
          <a:prstGeom prst="roundRect">
            <a:avLst/>
          </a:prstGeom>
          <a:solidFill>
            <a:srgbClr val="1820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01 协议签署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447788" y="3474720"/>
            <a:ext cx="109728" cy="128016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19672" y="3767328"/>
            <a:ext cx="1965960" cy="777240"/>
          </a:xfrm>
          <a:prstGeom prst="roundRect">
            <a:avLst/>
          </a:prstGeom>
          <a:solidFill>
            <a:srgbClr val="1820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02 资产交割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08008" y="1463040"/>
            <a:ext cx="22402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45168" y="1600200"/>
            <a:ext cx="1965960" cy="777240"/>
          </a:xfrm>
          <a:prstGeom prst="roundRect">
            <a:avLst/>
          </a:prstGeom>
          <a:solidFill>
            <a:srgbClr val="FF6A1A"/>
          </a:solidFill>
          <a:ln w="12700">
            <a:solidFill>
              <a:srgbClr val="E54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售后阶段</a:t>
            </a:r>
          </a:p>
          <a:p>
            <a:pPr algn="ctr">
              <a:spcBef>
                <a:spcPts val="200"/>
              </a:spcBef>
              <a:defRPr sz="750" b="1">
                <a:solidFill>
                  <a:srgbClr val="FFEDD5"/>
                </a:solidFill>
                <a:latin typeface="Arial"/>
              </a:defRPr>
            </a:pPr>
            <a:r>
              <a:t>STAGE 04 · AFTER-SALES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45168" y="2532888"/>
            <a:ext cx="1965960" cy="960120"/>
          </a:xfrm>
          <a:prstGeom prst="roundRect">
            <a:avLst/>
          </a:prstGeom>
          <a:solidFill>
            <a:srgbClr val="1820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01 回收款转付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45168" y="3858768"/>
            <a:ext cx="1965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050" b="1">
                <a:solidFill>
                  <a:srgbClr val="FF6A1A"/>
                </a:solidFill>
                <a:latin typeface="Microsoft YaHei"/>
              </a:defRPr>
            </a:pPr>
            <a:r>
              <a:t>🎯 闭环成果</a:t>
            </a:r>
          </a:p>
          <a:p>
            <a:pPr algn="ctr">
              <a:spcBef>
                <a:spcPts val="300"/>
              </a:spcBef>
              <a:defRPr sz="900">
                <a:solidFill>
                  <a:srgbClr val="64748B"/>
                </a:solidFill>
                <a:latin typeface="Microsoft YaHei"/>
              </a:defRPr>
            </a:pPr>
            <a:r>
              <a:t>款项结清 · 账实相符</a:t>
            </a:r>
            <a:br/>
            <a:r>
              <a:t>全套凭证归档结项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6035040"/>
            <a:ext cx="10728655" cy="34747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900">
                <a:solidFill>
                  <a:srgbClr val="E54008"/>
                </a:solidFill>
                <a:latin typeface="Microsoft YaHei"/>
              </a:defRPr>
            </a:pPr>
            <a:r>
              <a:t>💡 操作提示：本页全部元素均为 PowerPoint 原生矢量形状与文本框。鼠标双击文本即可直接编辑修改，选中形状可自由拖拽、缩放或更换主题色。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731520" cy="4572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743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6A1A"/>
                </a:solidFill>
                <a:latin typeface="Arial"/>
              </a:defRPr>
            </a:pPr>
            <a:r>
              <a:t>02 PROCESS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icrosoft YaHei"/>
              </a:defRPr>
            </a:pPr>
            <a:r>
              <a:t>全流程协同管控机制与交付基准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icrosoft YaHei"/>
              </a:defRPr>
            </a:pPr>
            <a:r>
              <a:t>各阶段环环相扣，实现合规前置、过程阳光与资金闭环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YaHei"/>
              </a:defRPr>
            </a:pPr>
            <a:r>
              <a:t>BUSINESS WORKFLOW &amp; PROCESS TEMPLATE  |  原生可编辑 PPT 模板 · 支持双击修改文字与形状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FF6A1A"/>
                </a:solidFill>
                <a:latin typeface="Arial"/>
              </a:defRPr>
            </a:pPr>
            <a:r>
              <a:t>04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377440" cy="1005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300" b="1">
                <a:solidFill>
                  <a:srgbClr val="FF6A1A"/>
                </a:solidFill>
                <a:latin typeface="Microsoft YaHei"/>
              </a:defRPr>
            </a:pPr>
            <a:r>
              <a:t>01 准备阶段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  <a:latin typeface="Microsoft YaHei"/>
              </a:defRPr>
            </a:pPr>
            <a:r>
              <a:t>立项 / 合同 / 账包 / 估值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00400" y="1883664"/>
            <a:ext cx="219456" cy="164592"/>
          </a:xfrm>
          <a:prstGeom prst="righ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11296" y="1463040"/>
            <a:ext cx="237744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300" b="1">
                <a:solidFill>
                  <a:srgbClr val="FF6A1A"/>
                </a:solidFill>
                <a:latin typeface="Microsoft YaHei"/>
              </a:defRPr>
            </a:pPr>
            <a:r>
              <a:t>02 交易前阶段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  <a:latin typeface="Microsoft YaHei"/>
              </a:defRPr>
            </a:pPr>
            <a:r>
              <a:t>招商推介 / 组织招标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80176" y="1883664"/>
            <a:ext cx="219456" cy="164592"/>
          </a:xfrm>
          <a:prstGeom prst="righ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91072" y="1463040"/>
            <a:ext cx="237744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300" b="1">
                <a:solidFill>
                  <a:srgbClr val="FF6A1A"/>
                </a:solidFill>
                <a:latin typeface="Microsoft YaHei"/>
              </a:defRPr>
            </a:pPr>
            <a:r>
              <a:t>03 交易阶段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  <a:latin typeface="Microsoft YaHei"/>
              </a:defRPr>
            </a:pPr>
            <a:r>
              <a:t>协议签署 / 资产交割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59952" y="1883664"/>
            <a:ext cx="219456" cy="164592"/>
          </a:xfrm>
          <a:prstGeom prst="righ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70848" y="1463040"/>
            <a:ext cx="237744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300" b="1">
                <a:solidFill>
                  <a:srgbClr val="FF6A1A"/>
                </a:solidFill>
                <a:latin typeface="Microsoft YaHei"/>
              </a:defRPr>
            </a:pPr>
            <a:r>
              <a:t>04 售后阶段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  <a:latin typeface="Microsoft YaHei"/>
              </a:defRPr>
            </a:pPr>
            <a:r>
              <a:t>回收款转付 / 档案归档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43200"/>
            <a:ext cx="34290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743200"/>
            <a:ext cx="3429000" cy="73152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926080"/>
            <a:ext cx="2971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支柱 01 · 资产估值与合规前置</a:t>
            </a:r>
          </a:p>
          <a:p>
            <a:pPr>
              <a:spcAft>
                <a:spcPts val="1000"/>
              </a:spcAft>
              <a:defRPr sz="800" b="1">
                <a:solidFill>
                  <a:srgbClr val="FF6A1A"/>
                </a:solidFill>
                <a:latin typeface="Arial"/>
              </a:defRPr>
            </a:pPr>
            <a:r>
              <a:t>PRE-VALUATION &amp; COMPLIANCE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✔  双重尽调：法务尽调与财务资产包底账清洗双轨并进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✔  权威估值：引入法定资质评估机构，锁定公允基准价值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✔  消灭瑕疵：在进入市场推介前厘清权属争议，规避流标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9976" y="2743200"/>
            <a:ext cx="34290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9976" y="2743200"/>
            <a:ext cx="3429000" cy="73152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8576" y="2926080"/>
            <a:ext cx="2971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支柱 02 · 阳光竞价与招商撮合</a:t>
            </a:r>
          </a:p>
          <a:p>
            <a:pPr>
              <a:spcAft>
                <a:spcPts val="1000"/>
              </a:spcAft>
              <a:defRPr sz="800" b="1">
                <a:solidFill>
                  <a:srgbClr val="FF6A1A"/>
                </a:solidFill>
                <a:latin typeface="Arial"/>
              </a:defRPr>
            </a:pPr>
            <a:r>
              <a:t>OPEN MARKET &amp; BIDDING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✔  广泛蓄水：行业推介路演与多渠道发布，吸引优质买方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✔  保密合规：签署高标准 NDA，设立虚拟数据室(VDR)核验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✔  公平竞争：公证开标与多维专家评审，最大化资产变现率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2" y="2743200"/>
            <a:ext cx="34290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2" y="2743200"/>
            <a:ext cx="3429000" cy="73152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2" y="2926080"/>
            <a:ext cx="2971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支柱 03 · 资金监管与安全清算</a:t>
            </a:r>
          </a:p>
          <a:p>
            <a:pPr>
              <a:spcAft>
                <a:spcPts val="1000"/>
              </a:spcAft>
              <a:defRPr sz="800" b="1">
                <a:solidFill>
                  <a:srgbClr val="FF6A1A"/>
                </a:solidFill>
                <a:latin typeface="Arial"/>
              </a:defRPr>
            </a:pPr>
            <a:r>
              <a:t>ESCROW &amp; SETTLEMENT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✔  资金入托：设置独立银行监管专户，实行款券对付(DVP)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✔  履约保障：交割确认书三方签署后，方可启动解冻划拨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✔  即时转付：T+1 完成对账清分，T+3 内资金划付到账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731520" cy="4572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743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6A1A"/>
                </a:solidFill>
                <a:latin typeface="Arial"/>
              </a:defRPr>
            </a:pPr>
            <a:r>
              <a:t>03 STAGE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icrosoft YaHei"/>
              </a:defRPr>
            </a:pPr>
            <a:r>
              <a:t>第一阶段 · 准备阶段工作深度拆解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icrosoft YaHei"/>
              </a:defRPr>
            </a:pPr>
            <a:r>
              <a:t>立足资产摸底与估值服务规范，筑牢资产交易的合规与风控基石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YaHei"/>
              </a:defRPr>
            </a:pPr>
            <a:r>
              <a:t>BUSINESS WORKFLOW &amp; PROCESS TEMPLATE  |  原生可编辑 PPT 模板 · 支持双击修改文字与形状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FF6A1A"/>
                </a:solidFill>
                <a:latin typeface="Arial"/>
              </a:defRPr>
            </a:pPr>
            <a:r>
              <a:t>05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2542032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2542032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64208"/>
            <a:ext cx="21762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  项目立项</a:t>
            </a:r>
          </a:p>
          <a:p>
            <a:pPr>
              <a:defRPr sz="850">
                <a:solidFill>
                  <a:srgbClr val="FF6A1A"/>
                </a:solidFill>
                <a:latin typeface="Microsoft YaHei"/>
              </a:defRPr>
            </a:pPr>
            <a:r>
              <a:t>可行性研判与组织设立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2176272" cy="274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Microsoft YaHei"/>
              </a:defRPr>
            </a:pPr>
            <a:r>
              <a:t>•  发起业务立项申请与合规论证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Microsoft YaHei"/>
              </a:defRPr>
            </a:pPr>
            <a:r>
              <a:t>•  成立跨部门资产专项工作组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Microsoft YaHei"/>
              </a:defRPr>
            </a:pPr>
            <a:r>
              <a:t>•  制定全流程里程碑进度排期表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Microsoft YaHei"/>
              </a:defRPr>
            </a:pPr>
            <a:r>
              <a:t>•  明确各干系人权责与交付物清单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554480"/>
            <a:ext cx="2542032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6432" y="1554480"/>
            <a:ext cx="2542032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1664208"/>
            <a:ext cx="21762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  签收估值服务合同</a:t>
            </a:r>
          </a:p>
          <a:p>
            <a:pPr>
              <a:defRPr sz="850">
                <a:solidFill>
                  <a:srgbClr val="FF6A1A"/>
                </a:solidFill>
                <a:latin typeface="Microsoft YaHei"/>
              </a:defRPr>
            </a:pPr>
            <a:r>
              <a:t>专业机构引入与标准共识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423160"/>
            <a:ext cx="2176272" cy="274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Microsoft YaHei"/>
              </a:defRPr>
            </a:pPr>
            <a:r>
              <a:t>•  遴选具备法定资质的资产评估机构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Microsoft YaHei"/>
              </a:defRPr>
            </a:pPr>
            <a:r>
              <a:t>•  商定评估基准日与资产核算口径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Microsoft YaHei"/>
              </a:defRPr>
            </a:pPr>
            <a:r>
              <a:t>•  签署具备法律效力的专项服务合同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Microsoft YaHei"/>
              </a:defRPr>
            </a:pPr>
            <a:r>
              <a:t>•  界定权责边界与交付保密约定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554480"/>
            <a:ext cx="2542032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554480"/>
            <a:ext cx="2542032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664208"/>
            <a:ext cx="21762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  账包数据整理</a:t>
            </a:r>
          </a:p>
          <a:p>
            <a:pPr>
              <a:defRPr sz="850">
                <a:solidFill>
                  <a:srgbClr val="FF6A1A"/>
                </a:solidFill>
                <a:latin typeface="Microsoft YaHei"/>
              </a:defRPr>
            </a:pPr>
            <a:r>
              <a:t>底层资产清洗与证据链锁定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423160"/>
            <a:ext cx="2176272" cy="274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Microsoft YaHei"/>
              </a:defRPr>
            </a:pPr>
            <a:r>
              <a:t>•  收集整理原始资产台账与权属凭证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Microsoft YaHei"/>
              </a:defRPr>
            </a:pPr>
            <a:r>
              <a:t>•  开展财务明细核查与坏账坏损剔除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Microsoft YaHei"/>
              </a:defRPr>
            </a:pPr>
            <a:r>
              <a:t>•  标准化规范数据字段与底层资产包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Microsoft YaHei"/>
              </a:defRPr>
            </a:pPr>
            <a:r>
              <a:t>•  输出经复核的资产清单数据包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1554480"/>
            <a:ext cx="2542032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06256" y="1554480"/>
            <a:ext cx="2542032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9136" y="1664208"/>
            <a:ext cx="21762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04  估值对接</a:t>
            </a:r>
          </a:p>
          <a:p>
            <a:pPr>
              <a:defRPr sz="850">
                <a:solidFill>
                  <a:srgbClr val="FF6A1A"/>
                </a:solidFill>
                <a:latin typeface="Microsoft YaHei"/>
              </a:defRPr>
            </a:pPr>
            <a:r>
              <a:t>现场核查与权威估值出具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2423160"/>
            <a:ext cx="2176272" cy="274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Microsoft YaHei"/>
              </a:defRPr>
            </a:pPr>
            <a:r>
              <a:t>•  配合评估师开展实物资产现场查验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Microsoft YaHei"/>
              </a:defRPr>
            </a:pPr>
            <a:r>
              <a:t>•  提供历史交易行情与收益测算模型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Microsoft YaHei"/>
              </a:defRPr>
            </a:pPr>
            <a:r>
              <a:t>•  针对估值争议项进行沟通校准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  <a:latin typeface="Microsoft YaHei"/>
              </a:defRPr>
            </a:pPr>
            <a:r>
              <a:t>•  出具具有权威效力的正式估值报告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86400"/>
            <a:ext cx="10728655" cy="7772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5955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4008"/>
                </a:solidFill>
                <a:latin typeface="Microsoft YaHei"/>
              </a:defRPr>
            </a:pPr>
            <a:r>
              <a:t>📌 阶段一关键交付物清单 (DELIVERABLES)：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① 《项目业务立项审批书》  ② 《权威资产估值服务合同》  ③ 《清洗核验后底层资产明细台账》  ④ 《法定第三方估值评估报告初稿》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731520" cy="4572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743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6A1A"/>
                </a:solidFill>
                <a:latin typeface="Arial"/>
              </a:defRPr>
            </a:pPr>
            <a:r>
              <a:t>04 STAGE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icrosoft YaHei"/>
              </a:defRPr>
            </a:pPr>
            <a:r>
              <a:t>第二阶段 · 招商推介与组织招标实施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icrosoft YaHei"/>
              </a:defRPr>
            </a:pPr>
            <a:r>
              <a:t>通过广泛推介扩大受让方池，严谨组织竞标确保程序合法与价值最大化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YaHei"/>
              </a:defRPr>
            </a:pPr>
            <a:r>
              <a:t>BUSINESS WORKFLOW &amp; PROCESS TEMPLATE  |  原生可编辑 PPT 模板 · 支持双击修改文字与形状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FF6A1A"/>
                </a:solidFill>
                <a:latin typeface="Arial"/>
              </a:defRPr>
            </a:pPr>
            <a:r>
              <a:t>06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5212080" cy="82296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27632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子流程 01 · 招商推介 (MARKETING &amp; PITCH)</a:t>
            </a:r>
          </a:p>
          <a:p>
            <a:pPr>
              <a:defRPr sz="950">
                <a:solidFill>
                  <a:srgbClr val="FFEDD5"/>
                </a:solidFill>
                <a:latin typeface="Microsoft YaHei"/>
              </a:defRPr>
            </a:pPr>
            <a:r>
              <a:t>意向挖掘 · 价值宣传 · 投资人准入核验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146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▶ 全渠道路演宣讲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依托行业交易中心、金融推介会及线上平台多维发布资产推介公告。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▶ 准入资质审查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对意向受让方资金实力、合规背景及反洗钱资质开展前置KYC审查。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▶ 保密协议与数据室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签署双向法律效力保密协议（NDA），限权开放虚拟数据室（VDR）核阅。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▶ 投资意向撮合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收集投资意向函（LOI），梳理受让方溢价期望，形成核心竞买人梯队。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554480"/>
            <a:ext cx="521208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2415" y="1627632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子流程 02 · 组织招标 (BIDDING MANAGEMENT)</a:t>
            </a:r>
          </a:p>
          <a:p>
            <a:pPr>
              <a:defRPr sz="950">
                <a:solidFill>
                  <a:srgbClr val="FF6A1A"/>
                </a:solidFill>
                <a:latin typeface="Microsoft YaHei"/>
              </a:defRPr>
            </a:pPr>
            <a:r>
              <a:t>标书发售 · 保证金核验 · 开标与专家评审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415" y="25146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▶ 招标文件严密编制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明确竞标基准底价、加价阶梯、保证金缴纳规则及履约承诺约束。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▶ 保证金闭环存管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严格审核各竞买人足额缴纳投标保证金凭证，未达标者一票否决。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▶ 阳光公证开标会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引入司法公证或法务全程见证，公开开启竞价标书，杜绝暗箱操作。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▶ 专家评审与定标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多维度综合评分（对价 70% + 履约资质 20% + 付款方案 10%），公示中选结果。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731520" cy="4572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743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6A1A"/>
                </a:solidFill>
                <a:latin typeface="Arial"/>
              </a:defRPr>
            </a:pPr>
            <a:r>
              <a:t>05 STAGE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icrosoft YaHei"/>
              </a:defRPr>
            </a:pPr>
            <a:r>
              <a:t>第三阶段 · 协议签署与资产交割交接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icrosoft YaHei"/>
              </a:defRPr>
            </a:pPr>
            <a:r>
              <a:t>落实交易对价锁定与权属转移法律程序，确保交割过程平稳合规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YaHei"/>
              </a:defRPr>
            </a:pPr>
            <a:r>
              <a:t>BUSINESS WORKFLOW &amp; PROCESS TEMPLATE  |  原生可编辑 PPT 模板 · 支持双击修改文字与形状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FF6A1A"/>
                </a:solidFill>
                <a:latin typeface="Arial"/>
              </a:defRPr>
            </a:pPr>
            <a:r>
              <a:t>07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4663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6A1A"/>
                </a:solidFill>
                <a:latin typeface="Microsoft YaHei"/>
              </a:defRPr>
            </a:pPr>
            <a:r>
              <a:t>01 / 协议签署 (CONTRACT SIGNING)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权责义务锁定 · 履约担保设立 · 违约责任闭环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Microsoft YaHei"/>
              </a:defRPr>
            </a:pPr>
            <a:r>
              <a:t>•  正式签署《资产出让与受让交易合同》主协议及相关补充承诺函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Microsoft YaHei"/>
              </a:defRPr>
            </a:pPr>
            <a:r>
              <a:t>•  设立独立银行资金监管专户（Escrow Account），锁定首期履约资金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Microsoft YaHei"/>
              </a:defRPr>
            </a:pPr>
            <a:r>
              <a:t>•  出具排他性声明及双方董事会/有权决策机构最终批复文件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Microsoft YaHei"/>
              </a:defRPr>
            </a:pPr>
            <a:r>
              <a:t>•  约定交割先决条件（CPs）清单及争议解决司法管辖约定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554480"/>
            <a:ext cx="52120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2415" y="1737360"/>
            <a:ext cx="4663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02 / 资产交割 (ASSET DELIVERY)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物权凭据转移 · 数据接口割接 · 会签交接确认书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Microsoft YaHei"/>
              </a:defRPr>
            </a:pPr>
            <a:r>
              <a:t>•  按照资产明细清单逐项点验实物、权证、合同档案及数据介质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Microsoft YaHei"/>
              </a:defRPr>
            </a:pPr>
            <a:r>
              <a:t>•  协助办理工商登记变更、动产/不动产质押权移转及不动产登记手续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Microsoft YaHei"/>
              </a:defRPr>
            </a:pPr>
            <a:r>
              <a:t>•  IT系统权限与核心底层业务数据接口平稳割接，确保业务不中断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Microsoft YaHei"/>
              </a:defRPr>
            </a:pPr>
            <a:r>
              <a:t>•  出让方、受让方及监管机构三方共同签署《资产交割验收确认书》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10728655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6A1A"/>
                </a:solidFill>
                <a:latin typeface="Microsoft YaHei"/>
              </a:defRPr>
            </a:pPr>
            <a:r>
              <a:t>🛡️ 本阶段核心履约安全保障机制 (SECURITY MECHANISM)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Microsoft YaHei"/>
              </a:defRPr>
            </a:pPr>
            <a:r>
              <a:t>【资金监管联动】 交割前资金全额入托监管户，交割确认后方可释放，实现「券款对付(DVP)」标准。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Microsoft YaHei"/>
              </a:defRPr>
            </a:pPr>
            <a:r>
              <a:t>【过渡期保护期】 设立 30~60 天过渡缓冲期，原团队提供必要技术支持与运维辅导，确保平稳过渡。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Microsoft YaHei"/>
              </a:defRPr>
            </a:pPr>
            <a:r>
              <a:t>【法务全程公证】 重要签字盖章环节现场录像，移交清单公证处封存备查，保障程序无懈可击。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731520" cy="4572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743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6A1A"/>
                </a:solidFill>
                <a:latin typeface="Arial"/>
              </a:defRPr>
            </a:pPr>
            <a:r>
              <a:t>06 STAGE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icrosoft YaHei"/>
              </a:defRPr>
            </a:pPr>
            <a:r>
              <a:t>第四阶段 · 售后阶段与回收款转付闭环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icrosoft YaHei"/>
              </a:defRPr>
            </a:pPr>
            <a:r>
              <a:t>严格遵照财务清算规程，高效办理资金转付与存续期运营保障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YaHei"/>
              </a:defRPr>
            </a:pPr>
            <a:r>
              <a:t>BUSINESS WORKFLOW &amp; PROCESS TEMPLATE  |  原生可编辑 PPT 模板 · 支持双击修改文字与形状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FF6A1A"/>
                </a:solidFill>
                <a:latin typeface="Arial"/>
              </a:defRPr>
            </a:pPr>
            <a:r>
              <a:t>08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474720" cy="4572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6A1A"/>
                </a:solidFill>
                <a:latin typeface="Microsoft YaHei"/>
              </a:defRPr>
            </a:pPr>
            <a:r>
              <a:t>核心子流程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回收款转付机制</a:t>
            </a:r>
          </a:p>
          <a:p>
            <a:pPr>
              <a:spcBef>
                <a:spcPts val="800"/>
              </a:spcBef>
              <a:defRPr sz="1100" b="1">
                <a:solidFill>
                  <a:srgbClr val="FF6A1A"/>
                </a:solidFill>
                <a:latin typeface="Microsoft YaHei"/>
              </a:defRPr>
            </a:pPr>
            <a:r>
              <a:t>Step 1 资金解冻指令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  <a:latin typeface="Microsoft YaHei"/>
              </a:defRPr>
            </a:pPr>
            <a:r>
              <a:t>交割验收合格，出具银行监管释放指令函。</a:t>
            </a:r>
          </a:p>
          <a:p>
            <a:pPr>
              <a:spcBef>
                <a:spcPts val="800"/>
              </a:spcBef>
              <a:defRPr sz="1100" b="1">
                <a:solidFill>
                  <a:srgbClr val="FF6A1A"/>
                </a:solidFill>
                <a:latin typeface="Microsoft YaHei"/>
              </a:defRPr>
            </a:pPr>
            <a:r>
              <a:t>Step 2 规费税务扣缴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  <a:latin typeface="Microsoft YaHei"/>
              </a:defRPr>
            </a:pPr>
            <a:r>
              <a:t>核算代扣代缴交易税费、中介佣金及通道费。</a:t>
            </a:r>
          </a:p>
          <a:p>
            <a:pPr>
              <a:spcBef>
                <a:spcPts val="800"/>
              </a:spcBef>
              <a:defRPr sz="1100" b="1">
                <a:solidFill>
                  <a:srgbClr val="FF6A1A"/>
                </a:solidFill>
                <a:latin typeface="Microsoft YaHei"/>
              </a:defRPr>
            </a:pPr>
            <a:r>
              <a:t>Step 3 资金划转出境/入账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  <a:latin typeface="Microsoft YaHei"/>
              </a:defRPr>
            </a:pPr>
            <a:r>
              <a:t>按协议约定指定账户办理大额转付，取得银行回单。</a:t>
            </a:r>
          </a:p>
          <a:p>
            <a:pPr>
              <a:spcBef>
                <a:spcPts val="800"/>
              </a:spcBef>
              <a:defRPr sz="1100" b="1">
                <a:solidFill>
                  <a:srgbClr val="FF6A1A"/>
                </a:solidFill>
                <a:latin typeface="Microsoft YaHei"/>
              </a:defRPr>
            </a:pPr>
            <a:r>
              <a:t>Step 4 结算清分对账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  <a:latin typeface="Microsoft YaHei"/>
              </a:defRPr>
            </a:pPr>
            <a:r>
              <a:t>出具结算清单，出让方确认收款，完成账目冲销。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54480"/>
            <a:ext cx="69494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69164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6A1A"/>
                </a:solidFill>
                <a:latin typeface="Microsoft YaHei"/>
              </a:defRPr>
            </a:pPr>
            <a:r>
              <a:t>⚡ 清算时效与资金合规准则 (SETTLEMENT SLA)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•  T+1 对账确认：交割完成当日启动税务发票与费用清分，次日完成三方对账单签署确认。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•  T+3 划转到账：全额款项通过央行大额支付系统或跨境清算通道在 3 个工作日内完成调拨。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•  零滞留原则：监管账户绝不沉淀资金，专款专用，流向全程接受法务与审计联合监督。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977639"/>
            <a:ext cx="6949440" cy="2148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41148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📊 存续期管理与项目复盘档案 (POST-TRANSACTION SERVICES)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•  档案终生留痕：全套立项、估值报告、招标底稿、转付凭证统一录入数字档案库，留痕 10 年。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•  争议仲裁调解：设立专门客诉与权属争议调解通道，在合同约定框架内提供终审前置协调。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  <a:latin typeface="Microsoft YaHei"/>
              </a:defRPr>
            </a:pPr>
            <a:r>
              <a:t>•  项目全维复盘：召开项目复盘总结会，评估交易溢价率、周期耗时与各环节效率，沉淀标准化模版。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731520" cy="45720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743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6A1A"/>
                </a:solidFill>
                <a:latin typeface="Arial"/>
              </a:defRPr>
            </a:pPr>
            <a:r>
              <a:t>07 RISK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icrosoft YaHei"/>
              </a:defRPr>
            </a:pPr>
            <a:r>
              <a:t>核心风险隐患识别与全维管控矩阵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Microsoft YaHei"/>
              </a:defRPr>
            </a:pPr>
            <a:r>
              <a:t>构建覆盖合规、市场、交割与资金维度的全流程风险防火墙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73952"/>
            <a:ext cx="9601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Microsoft YaHei"/>
              </a:defRPr>
            </a:pPr>
            <a:r>
              <a:t>BUSINESS WORKFLOW &amp; PROCESS TEMPLATE  |  原生可编辑 PPT 模板 · 支持双击修改文字与形状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73952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FF6A1A"/>
                </a:solidFill>
                <a:latin typeface="Arial"/>
              </a:defRPr>
            </a:pPr>
            <a:r>
              <a:t>09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3429000" cy="109728"/>
          </a:xfrm>
          <a:prstGeom prst="rect">
            <a:avLst/>
          </a:prstGeom>
          <a:solidFill>
            <a:srgbClr val="E54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54008"/>
                </a:solidFill>
                <a:latin typeface="Arial"/>
              </a:defRPr>
            </a:pPr>
            <a:r>
              <a:t>HIGH RISK</a:t>
            </a:r>
          </a:p>
          <a:p>
            <a:pPr>
              <a:spcBef>
                <a:spcPts val="200"/>
              </a:spcBef>
              <a:spcAft>
                <a:spcPts val="1200"/>
              </a:spcAft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合规与法律权属风险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  <a:latin typeface="Microsoft YaHei"/>
              </a:defRPr>
            </a:pPr>
            <a:r>
              <a:t>【风险表现】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Microsoft YaHei"/>
              </a:defRPr>
            </a:pPr>
            <a:r>
              <a:t>底层资产产权存争议、抵押权未解押、交易主体授权资格有缺陷。</a:t>
            </a:r>
          </a:p>
          <a:p>
            <a:pPr>
              <a:spcBef>
                <a:spcPts val="800"/>
              </a:spcBef>
              <a:defRPr sz="1100" b="1">
                <a:solidFill>
                  <a:srgbClr val="FF6A1A"/>
                </a:solidFill>
                <a:latin typeface="Microsoft YaHei"/>
              </a:defRPr>
            </a:pPr>
            <a:r>
              <a:t>【应对机制】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Microsoft YaHei"/>
              </a:defRPr>
            </a:pPr>
            <a:r>
              <a:t>引入专业律所开展全方位法律尽职调查，出具明确法律意见书，落实双重权属公证。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645920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9976" y="1645920"/>
            <a:ext cx="3429000" cy="109728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92024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6A1A"/>
                </a:solidFill>
                <a:latin typeface="Arial"/>
              </a:defRPr>
            </a:pPr>
            <a:r>
              <a:t>MEDIUM RISK</a:t>
            </a:r>
          </a:p>
          <a:p>
            <a:pPr>
              <a:spcBef>
                <a:spcPts val="200"/>
              </a:spcBef>
              <a:spcAft>
                <a:spcPts val="1200"/>
              </a:spcAft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估值偏离与流标风险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  <a:latin typeface="Microsoft YaHei"/>
              </a:defRPr>
            </a:pPr>
            <a:r>
              <a:t>【风险表现】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Microsoft YaHei"/>
              </a:defRPr>
            </a:pPr>
            <a:r>
              <a:t>估值模型参数脱离市场行情，底价过高导致流标，或底价过低引致国有资产流失质询。</a:t>
            </a:r>
          </a:p>
          <a:p>
            <a:pPr>
              <a:spcBef>
                <a:spcPts val="800"/>
              </a:spcBef>
              <a:defRPr sz="1100" b="1">
                <a:solidFill>
                  <a:srgbClr val="FF6A1A"/>
                </a:solidFill>
                <a:latin typeface="Microsoft YaHei"/>
              </a:defRPr>
            </a:pPr>
            <a:r>
              <a:t>【应对机制】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Microsoft YaHei"/>
              </a:defRPr>
            </a:pPr>
            <a:r>
              <a:t>采用多种估值方法交叉验证；设置弹性竞价阶梯与意向受让方保底撮合机制。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1645920"/>
            <a:ext cx="3429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2" y="1645920"/>
            <a:ext cx="3429000" cy="109728"/>
          </a:xfrm>
          <a:prstGeom prst="rect">
            <a:avLst/>
          </a:prstGeom>
          <a:solidFill>
            <a:srgbClr val="E54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2" y="192024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54008"/>
                </a:solidFill>
                <a:latin typeface="Arial"/>
              </a:defRPr>
            </a:pPr>
            <a:r>
              <a:t>HIGH RISK</a:t>
            </a:r>
          </a:p>
          <a:p>
            <a:pPr>
              <a:spcBef>
                <a:spcPts val="200"/>
              </a:spcBef>
              <a:spcAft>
                <a:spcPts val="1200"/>
              </a:spcAft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资金违约与交割延误风险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  <a:latin typeface="Microsoft YaHei"/>
              </a:defRPr>
            </a:pPr>
            <a:r>
              <a:t>【风险表现】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Microsoft YaHei"/>
              </a:defRPr>
            </a:pPr>
            <a:r>
              <a:t>受让方资金链断裂无法按期转付尾款；出让方实物交付不符导致争议停摆。</a:t>
            </a:r>
          </a:p>
          <a:p>
            <a:pPr>
              <a:spcBef>
                <a:spcPts val="800"/>
              </a:spcBef>
              <a:defRPr sz="1100" b="1">
                <a:solidFill>
                  <a:srgbClr val="FF6A1A"/>
                </a:solidFill>
                <a:latin typeface="Microsoft YaHei"/>
              </a:defRPr>
            </a:pPr>
            <a:r>
              <a:t>【应对机制】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Microsoft YaHei"/>
              </a:defRPr>
            </a:pPr>
            <a:r>
              <a:t>强制采用银行监管专户分期付，锁定高额履约保证金；违约按日计息并启动无条件没收。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4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200" b="1">
                <a:solidFill>
                  <a:srgbClr val="FF6A1A"/>
                </a:solidFill>
                <a:latin typeface="Arial"/>
              </a:defRPr>
            </a:pPr>
            <a:r>
              <a:t>THANKS FOR WATCHING · Q &amp; A</a:t>
            </a:r>
          </a:p>
          <a:p>
            <a:pPr algn="ctr">
              <a:spcAft>
                <a:spcPts val="2000"/>
              </a:spcAft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感谢聆听 · 敬请批评指正</a:t>
            </a:r>
          </a:p>
          <a:p>
            <a:pPr algn="ctr">
              <a:spcAft>
                <a:spcPts val="3000"/>
              </a:spcAft>
              <a:defRPr sz="1400">
                <a:solidFill>
                  <a:srgbClr val="94A3B8"/>
                </a:solidFill>
                <a:latin typeface="Microsoft YaHei"/>
              </a:defRPr>
            </a:pPr>
            <a:r>
              <a:t>标准化 · 阳光化 · 规范化 · 全程可控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0990" y="4389120"/>
            <a:ext cx="1828800" cy="36576"/>
          </a:xfrm>
          <a:prstGeom prst="rect">
            <a:avLst/>
          </a:prstGeom>
          <a:solidFill>
            <a:srgbClr val="FF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4846320"/>
            <a:ext cx="8534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Microsoft YaHei"/>
              </a:defRPr>
            </a:pPr>
            <a:r>
              <a:t>项目专项推进工作组  |  资产交易全流程标准化解决方案  |  2026.10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